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aveSubsetFonts="1" autoCompressPictures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 showComments="0">
  <p:normalViewPr/>
  <p:slideViewPr>
    <p:cSldViewPr snapToGrid="0" snapToObjects="1" showGuides="1"/>
  </p:slideViewPr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</p:titleStyle>
    <p:bodyStyle>
      <a:lvl1pPr marL="342900" indent="-228600"/>
    </p:bodyStyle>
    <p:otherStyle>
      <a:lvl1pPr marL="342900" indent="-228600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Tendon-Driven Mechanisms for Adaptive Robotic Grasping and Handheld Surgical Instruments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Yu Wang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Supervisor: Prof. Peng Lu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Department of Mechanical Engineering, HKU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Motivation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Narrow workspaces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Fragile, irregular, or moving targets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Low distal mass is required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Tendon-driven systems offer compliance and remote actuation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45895"/>
            <a:ext cx="5897880" cy="44234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Research Gap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Surgical tools and adaptive grippers are often separate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Most designs are application-driven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A transferable tendon-driven framework is still missing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315754"/>
            <a:ext cx="5897880" cy="2683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Research Question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How can tendon-driven mechanisms be systematically designed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to achieve adaptive, dexterous, and safe manipulation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under limited space, low distal inertia, and compliant contact?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Main Contributions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Mechanism-level study of tendon-driven systems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Lasso Gripper as the first embodiment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Transferable design principles extracted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Handheld surgical instrument as the second embodiment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Thesis Roadmap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Problem definition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Related work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Lasso Gripper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Extracted mechanism principles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Surgical translation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Related Work: Surgical Instruments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Cable-driven instruments improve distal dexterity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Key issues: coupling, friction, hysteresis, weight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The tradeoff between dexterity and usability remains open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19084"/>
            <a:ext cx="5897880" cy="3877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Related Work: Adaptive Grasping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Soft and enveloping grippers improve shape adaptation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Rigid grippers still struggle with fragile or oversized targets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A mechanism with both capture range and controlled force is needed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890309"/>
            <a:ext cx="5897879" cy="3534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Common Mechanism Principles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Tension management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Proximal actuation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Differential routing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Compliant interaction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Low distal inertia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Embodiment 1: Lasso Gripper Concept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Inspired by the lasso and the uurga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Loop-based capture instead of point contact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Adaptive capture region for uncertain targets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518524"/>
            <a:ext cx="5897880" cy="22781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Lasso Gripper: Mechanical Design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Launch and retraction subsystems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Friction-wheel-based string propulsion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Spool mechanism for storage and recovery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ESP32-based controller integration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831" y="1051560"/>
            <a:ext cx="529733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Lasso Gripper: Grasping Strategy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Point-cloud-based target understanding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Caging-loop-based placement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Controlled tightening with feedback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948283"/>
            <a:ext cx="5897880" cy="14186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Lasso Gripper: Dynamics and Workspace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String-loop dynamics explain deployed behavior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Workspace is estimated from loop geometry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Modeling supports design and control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596866"/>
            <a:ext cx="5897879" cy="21214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Lasso Gripper: Experimental Results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Static object capture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Shape-adaptive grasping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Oversized object handling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Moving target capture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65731"/>
            <a:ext cx="5897880" cy="43837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Comparison with Conventional Grippers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Antipodal gripping concentrates stress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Loop gripping distributes contact force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Better for delicate and shape-variable targets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90311"/>
            <a:ext cx="5897880" cy="23345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Mechanism Insights from Lasso Gripper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Controlled tension improves repeatability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Flexible contact improves tolerance to uncertainty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Proximal actuation reduces distal complexity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Differential routing is transferable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Embodiment 2: Surgical Translation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Clinical constraints are much stricter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Need distal dexterity without heavy distal hardware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Need ergonomic balance and motion fidelity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45895"/>
            <a:ext cx="5897880" cy="44234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Surgical Instrument: Design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Compact output actuation and input sensing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Tension-preserving reel architecture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Cable routing and tip design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Quick-swap modular structure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77459"/>
            <a:ext cx="5897880" cy="43602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Surgical Instrument: Control and Validation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Signal filtering plus closed-loop motor feedback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Improved motion fidelity in a hand-held device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Same mechanism principles under different constraints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3000" b="1">
                <a:solidFill>
                  <a:srgbClr val="1F3A5F"/>
                </a:solidFill>
              </a:rPr>
              <a:t>Conclusion and Future Work</a:t>
            </a:r>
            <a:endParaRPr lang="en-US" sz="3000" b="1"/>
          </a:p>
        </p:txBody>
      </p:sp>
      <p:sp>
        <p:nvSpPr>
          <p:cNvPr id="3" name="Content"/>
          <p:cNvSpPr txBox="1"/>
          <p:nvPr/>
        </p:nvSpPr>
        <p:spPr>
          <a:xfrm>
            <a:off x="594360" y="105156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sz="2200"/>
              <a:t>A transferable tendon-driven framework is established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Validated in grasping and surgical manipulation</a:t>
            </a:r>
            <a:endParaRPr lang="en-US" sz="2200"/>
          </a:p>
          <a:p>
            <a:pPr marL="342900" indent="-228600">
              <a:buChar char="•"/>
            </a:pPr>
            <a:r>
              <a:rPr lang="en-US" sz="2200"/>
              <a:t>Future work: adaptive control, modular instruments, multi-loop grasping</a:t>
            </a:r>
            <a:endParaRPr lang="en-US" sz="220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9449"/>
            <a:ext cx="5897880" cy="4556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FFFFF"/>
      </a:lt1>
      <a:dk2>
        <a:srgbClr val="1F3A5F"/>
      </a:dk2>
      <a:lt2>
        <a:srgbClr val="F3F6FA"/>
      </a:lt2>
      <a:accent1>
        <a:srgbClr val="2F5597"/>
      </a:accent1>
      <a:accent2>
        <a:srgbClr val="70AD47"/>
      </a:accent2>
      <a:accent3>
        <a:srgbClr val="ED7D31"/>
      </a:accent3>
      <a:accent4>
        <a:srgbClr val="FFC000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The University of Hong Kong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Tendon-Driven Mechanisms for Adaptive Robotic Grasping and Handheld Surgical Instruments</dc:title>
  <dc:creator>Yu Wang</dc:creator>
  <cp:lastModifiedBy>Codex</cp:lastModifiedBy>
  <dcterms:created xsi:type="dcterms:W3CDTF">2026-03-06T14:16:48Z</dcterms:created>
  <dcterms:modified xsi:type="dcterms:W3CDTF">2026-03-06T14:16:48Z</dcterms:modified>
</cp:coreProperties>
</file>